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780" autoAdjust="0"/>
  </p:normalViewPr>
  <p:slideViewPr>
    <p:cSldViewPr snapToGrid="0">
      <p:cViewPr varScale="1">
        <p:scale>
          <a:sx n="74" d="100"/>
          <a:sy n="74" d="100"/>
        </p:scale>
        <p:origin x="14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E167D-2B51-4F92-9152-0569DBA8B3B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B8350-8A04-4608-AFDB-0E6A95000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66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일반물리에서 배운 열용량은 물체의 온도를 </a:t>
            </a:r>
            <a:r>
              <a:rPr lang="en-US" altLang="ko-KR" dirty="0"/>
              <a:t>1</a:t>
            </a:r>
            <a:r>
              <a:rPr lang="ko-KR" altLang="en-US" dirty="0"/>
              <a:t>도 올리기 위해 필요한 열량을 말합니다</a:t>
            </a:r>
            <a:r>
              <a:rPr lang="en-US" altLang="ko-KR" dirty="0"/>
              <a:t>. </a:t>
            </a:r>
            <a:r>
              <a:rPr lang="ko-KR" altLang="en-US" dirty="0"/>
              <a:t>그리고 이 </a:t>
            </a:r>
            <a:r>
              <a:rPr lang="en-US" altLang="ko-KR" dirty="0"/>
              <a:t>heat capacity </a:t>
            </a:r>
            <a:r>
              <a:rPr lang="ko-KR" altLang="en-US" dirty="0"/>
              <a:t>를 질량으로 나누면 물질에 따라 온도를 올리기 위해 얼마나 많은 열이 필요한지 알려주는 중요한 물질의 특성이 됩니다</a:t>
            </a:r>
            <a:r>
              <a:rPr lang="en-US" altLang="ko-KR" dirty="0"/>
              <a:t>. </a:t>
            </a:r>
            <a:r>
              <a:rPr lang="ko-KR" altLang="en-US" dirty="0"/>
              <a:t>아마 중학교 때부터 물 </a:t>
            </a:r>
            <a:r>
              <a:rPr lang="en-US" altLang="ko-KR" dirty="0"/>
              <a:t>1 g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온도를 </a:t>
            </a:r>
            <a:r>
              <a:rPr lang="en-US" altLang="ko-KR" dirty="0"/>
              <a:t>1</a:t>
            </a:r>
            <a:r>
              <a:rPr lang="ko-KR" altLang="en-US" dirty="0"/>
              <a:t>도 올리기 위한 열량이 </a:t>
            </a:r>
            <a:r>
              <a:rPr lang="en-US" altLang="ko-KR" dirty="0"/>
              <a:t>1 calory </a:t>
            </a:r>
            <a:r>
              <a:rPr lang="ko-KR" altLang="en-US" dirty="0"/>
              <a:t>라는 것을 배운 기억이 날 것입니다</a:t>
            </a:r>
            <a:r>
              <a:rPr lang="en-US" altLang="ko-KR" dirty="0"/>
              <a:t>. </a:t>
            </a:r>
            <a:r>
              <a:rPr lang="ko-KR" altLang="en-US" dirty="0"/>
              <a:t>고체물리에서는 아직도 물질의 열용량을 정밀하게 측정하는 학문 분야와 전공자들이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그런데 이 </a:t>
            </a:r>
            <a:r>
              <a:rPr lang="en-US" altLang="ko-KR" dirty="0"/>
              <a:t>heat capacity </a:t>
            </a:r>
            <a:r>
              <a:rPr lang="ko-KR" altLang="en-US" dirty="0"/>
              <a:t>를 측정하거나 계산해서 결정할 때 중요한 점은 물체에 열을 가할 때의 조건과 환경입니다</a:t>
            </a:r>
            <a:r>
              <a:rPr lang="en-US" altLang="ko-KR" dirty="0"/>
              <a:t>. </a:t>
            </a:r>
            <a:r>
              <a:rPr lang="ko-KR" altLang="en-US" dirty="0"/>
              <a:t>아래 식을 봅시다</a:t>
            </a:r>
            <a:r>
              <a:rPr lang="en-US" altLang="ko-KR" dirty="0"/>
              <a:t>. Heat capacity</a:t>
            </a:r>
            <a:r>
              <a:rPr lang="ko-KR" altLang="en-US" dirty="0"/>
              <a:t> 의 분자가 </a:t>
            </a:r>
            <a:r>
              <a:rPr lang="en-US" altLang="ko-KR" dirty="0"/>
              <a:t>(Del U – W) 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이 중 물체에 가해지는 일 </a:t>
            </a:r>
            <a:r>
              <a:rPr lang="en-US" altLang="ko-KR" dirty="0"/>
              <a:t>W </a:t>
            </a:r>
            <a:r>
              <a:rPr lang="ko-KR" altLang="en-US" dirty="0"/>
              <a:t>가 얼마든지 다른 값을 가질 수 있기 때문입니다</a:t>
            </a:r>
            <a:r>
              <a:rPr lang="en-US" altLang="ko-KR" dirty="0"/>
              <a:t>. </a:t>
            </a:r>
            <a:r>
              <a:rPr lang="ko-KR" altLang="en-US" dirty="0"/>
              <a:t>그래서 우리는 보통 두가지 경우를 생각합니다</a:t>
            </a:r>
            <a:r>
              <a:rPr lang="en-US" altLang="ko-KR" dirty="0"/>
              <a:t>. </a:t>
            </a:r>
            <a:r>
              <a:rPr lang="ko-KR" altLang="en-US" dirty="0"/>
              <a:t>첫번째는 </a:t>
            </a:r>
            <a:r>
              <a:rPr lang="en-US" altLang="ko-KR" dirty="0"/>
              <a:t>W = -P(Del</a:t>
            </a:r>
            <a:r>
              <a:rPr lang="ko-KR" altLang="en-US" dirty="0"/>
              <a:t> </a:t>
            </a:r>
            <a:r>
              <a:rPr lang="en-US" altLang="ko-KR" dirty="0"/>
              <a:t>V)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 인 경우입니다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115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 = 0 </a:t>
            </a:r>
            <a:r>
              <a:rPr lang="ko-KR" altLang="en-US" dirty="0"/>
              <a:t>이 되려면 열이 가해지는 물체의 부피변화가 없어야 되고</a:t>
            </a:r>
            <a:r>
              <a:rPr lang="en-US" altLang="ko-KR" dirty="0"/>
              <a:t>, </a:t>
            </a:r>
            <a:r>
              <a:rPr lang="ko-KR" altLang="en-US" dirty="0"/>
              <a:t>이 경우의 </a:t>
            </a:r>
            <a:r>
              <a:rPr lang="en-US" altLang="ko-KR" dirty="0"/>
              <a:t>heat capacity </a:t>
            </a:r>
            <a:r>
              <a:rPr lang="ko-KR" altLang="en-US" dirty="0"/>
              <a:t>를 </a:t>
            </a:r>
            <a:r>
              <a:rPr lang="en-US" altLang="ko-KR" dirty="0"/>
              <a:t>heat</a:t>
            </a:r>
            <a:r>
              <a:rPr lang="ko-KR" altLang="en-US" dirty="0"/>
              <a:t> </a:t>
            </a:r>
            <a:r>
              <a:rPr lang="en-US" altLang="ko-KR" dirty="0"/>
              <a:t>capacity</a:t>
            </a:r>
            <a:r>
              <a:rPr lang="ko-KR" altLang="en-US" dirty="0"/>
              <a:t> </a:t>
            </a:r>
            <a:r>
              <a:rPr lang="en-US" altLang="ko-KR" dirty="0"/>
              <a:t>at</a:t>
            </a:r>
            <a:r>
              <a:rPr lang="ko-KR" altLang="en-US" dirty="0"/>
              <a:t> </a:t>
            </a:r>
            <a:r>
              <a:rPr lang="en-US" altLang="ko-KR" dirty="0"/>
              <a:t>constant</a:t>
            </a:r>
            <a:r>
              <a:rPr lang="ko-KR" altLang="en-US" dirty="0"/>
              <a:t> </a:t>
            </a:r>
            <a:r>
              <a:rPr lang="en-US" altLang="ko-KR" dirty="0"/>
              <a:t>volume</a:t>
            </a:r>
            <a:r>
              <a:rPr lang="ko-KR" altLang="en-US" dirty="0"/>
              <a:t> 이라고 부르고</a:t>
            </a:r>
            <a:r>
              <a:rPr lang="en-US" altLang="ko-KR" dirty="0"/>
              <a:t> C</a:t>
            </a:r>
            <a:r>
              <a:rPr lang="ko-KR" altLang="en-US" dirty="0"/>
              <a:t>에 </a:t>
            </a:r>
            <a:r>
              <a:rPr lang="ko-KR" altLang="en-US" dirty="0" err="1"/>
              <a:t>아래첨자</a:t>
            </a:r>
            <a:r>
              <a:rPr lang="ko-KR" altLang="en-US" dirty="0"/>
              <a:t> </a:t>
            </a:r>
            <a:r>
              <a:rPr lang="en-US" altLang="ko-KR" dirty="0"/>
              <a:t>V </a:t>
            </a:r>
            <a:r>
              <a:rPr lang="ko-KR" altLang="en-US" dirty="0"/>
              <a:t>를 붙여 </a:t>
            </a:r>
            <a:r>
              <a:rPr lang="en-US" altLang="ko-KR" dirty="0"/>
              <a:t>volume </a:t>
            </a:r>
            <a:r>
              <a:rPr lang="ko-KR" altLang="en-US" dirty="0"/>
              <a:t>이 일정한 조건에서 열을 가한다는 것을 표시합니다</a:t>
            </a:r>
            <a:r>
              <a:rPr lang="en-US" altLang="ko-KR" dirty="0"/>
              <a:t>. W = 0 </a:t>
            </a:r>
            <a:r>
              <a:rPr lang="ko-KR" altLang="en-US" dirty="0"/>
              <a:t>이니</a:t>
            </a:r>
            <a:r>
              <a:rPr lang="en-US" altLang="ko-KR" dirty="0"/>
              <a:t>, C_V = (del U)/(del T) </a:t>
            </a:r>
            <a:r>
              <a:rPr lang="ko-KR" altLang="en-US" dirty="0"/>
              <a:t>가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그런데 물체에 열을 가하면서 부피를 일정하게 유지하는 것이 힘들 경우가 있고</a:t>
            </a:r>
            <a:r>
              <a:rPr lang="en-US" altLang="ko-KR" dirty="0"/>
              <a:t>, </a:t>
            </a:r>
            <a:r>
              <a:rPr lang="ko-KR" altLang="en-US" dirty="0"/>
              <a:t>대신 압력이 일정하게 유지된 상황에서 열을 가해서 온도를 올리는 것이 편할 수도 있습니다</a:t>
            </a:r>
            <a:r>
              <a:rPr lang="en-US" altLang="ko-KR" dirty="0"/>
              <a:t>. </a:t>
            </a:r>
            <a:r>
              <a:rPr lang="ko-KR" altLang="en-US" dirty="0"/>
              <a:t>이 경우의 열용량을 </a:t>
            </a:r>
            <a:r>
              <a:rPr lang="en-US" altLang="ko-KR" dirty="0"/>
              <a:t>heat capacity at constant pressure </a:t>
            </a:r>
            <a:r>
              <a:rPr lang="ko-KR" altLang="en-US" dirty="0"/>
              <a:t>라고 부릅니다</a:t>
            </a:r>
            <a:r>
              <a:rPr lang="en-US" altLang="ko-KR" dirty="0"/>
              <a:t>. </a:t>
            </a:r>
            <a:r>
              <a:rPr lang="ko-KR" altLang="en-US" dirty="0"/>
              <a:t>고체나 액체의 경우에는 열을 가해도 </a:t>
            </a:r>
            <a:r>
              <a:rPr lang="ko-KR" altLang="en-US" dirty="0" err="1"/>
              <a:t>부피팽창률이</a:t>
            </a:r>
            <a:r>
              <a:rPr lang="ko-KR" altLang="en-US" dirty="0"/>
              <a:t> 크지 않아 </a:t>
            </a:r>
            <a:r>
              <a:rPr lang="en-US" altLang="ko-KR" dirty="0"/>
              <a:t>W </a:t>
            </a:r>
            <a:r>
              <a:rPr lang="ko-KR" altLang="en-US" dirty="0"/>
              <a:t>가 작지만 기체의 경우에는 열이 가해지면 부피가 증가하면서 </a:t>
            </a:r>
            <a:r>
              <a:rPr lang="en-US" altLang="ko-KR" dirty="0"/>
              <a:t>pressure-volume work </a:t>
            </a:r>
            <a:r>
              <a:rPr lang="ko-KR" altLang="en-US" dirty="0"/>
              <a:t>을 외부에 해 주어야 하기 때문에 </a:t>
            </a:r>
            <a:r>
              <a:rPr lang="en-US" altLang="ko-KR" dirty="0"/>
              <a:t>1</a:t>
            </a:r>
            <a:r>
              <a:rPr lang="ko-KR" altLang="en-US" dirty="0"/>
              <a:t>도 온도를 올리는 데 더 많은 열을 가해야 합니다</a:t>
            </a:r>
            <a:r>
              <a:rPr lang="en-US" altLang="ko-KR" dirty="0"/>
              <a:t>. </a:t>
            </a:r>
            <a:r>
              <a:rPr lang="ko-KR" altLang="en-US" dirty="0"/>
              <a:t>아래 식처럼 두번째 </a:t>
            </a:r>
            <a:r>
              <a:rPr lang="en-US" altLang="ko-KR" dirty="0"/>
              <a:t>pressure-volume work </a:t>
            </a:r>
            <a:r>
              <a:rPr lang="ko-KR" altLang="en-US" dirty="0"/>
              <a:t>항이 더해지는 것을 알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33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이상기체에 대해 이 두가지 비열을 계산해 보겠습니다</a:t>
            </a:r>
            <a:r>
              <a:rPr lang="en-US" altLang="ko-KR" dirty="0"/>
              <a:t>. </a:t>
            </a:r>
            <a:r>
              <a:rPr lang="ko-KR" altLang="en-US" dirty="0"/>
              <a:t>먼지 </a:t>
            </a:r>
            <a:r>
              <a:rPr lang="en-US" altLang="ko-KR" dirty="0"/>
              <a:t>heat capacity at constant volume </a:t>
            </a:r>
            <a:r>
              <a:rPr lang="ko-KR" altLang="en-US" dirty="0"/>
              <a:t>은 앞의 </a:t>
            </a:r>
            <a:r>
              <a:rPr lang="en-US" altLang="ko-KR" dirty="0"/>
              <a:t>equipartition theorem </a:t>
            </a:r>
            <a:r>
              <a:rPr lang="ko-KR" altLang="en-US" dirty="0"/>
              <a:t>에 의해 바로 </a:t>
            </a:r>
            <a:r>
              <a:rPr lang="en-US" altLang="ko-KR" dirty="0" err="1"/>
              <a:t>NkT</a:t>
            </a:r>
            <a:r>
              <a:rPr lang="en-US" altLang="ko-KR" dirty="0"/>
              <a:t>/2 </a:t>
            </a:r>
            <a:r>
              <a:rPr lang="ko-KR" altLang="en-US" dirty="0"/>
              <a:t>가 나옵니다</a:t>
            </a:r>
            <a:r>
              <a:rPr lang="en-US" altLang="ko-KR" dirty="0"/>
              <a:t>. </a:t>
            </a:r>
            <a:r>
              <a:rPr lang="ko-KR" altLang="en-US" dirty="0"/>
              <a:t>이상기체 </a:t>
            </a:r>
            <a:r>
              <a:rPr lang="en-US" altLang="ko-KR" dirty="0"/>
              <a:t>1 mole </a:t>
            </a:r>
            <a:r>
              <a:rPr lang="ko-KR" altLang="en-US" dirty="0"/>
              <a:t>의 경우 </a:t>
            </a:r>
            <a:r>
              <a:rPr lang="en-US" altLang="ko-KR" dirty="0"/>
              <a:t>N = N_A </a:t>
            </a:r>
            <a:r>
              <a:rPr lang="ko-KR" altLang="en-US" dirty="0"/>
              <a:t>이고  </a:t>
            </a:r>
            <a:r>
              <a:rPr lang="en-US" altLang="ko-KR" dirty="0"/>
              <a:t>N_A*k =</a:t>
            </a:r>
            <a:r>
              <a:rPr lang="ko-KR" altLang="en-US" dirty="0"/>
              <a:t> </a:t>
            </a:r>
            <a:r>
              <a:rPr lang="en-US" altLang="ko-KR" dirty="0"/>
              <a:t>R </a:t>
            </a:r>
            <a:r>
              <a:rPr lang="ko-KR" altLang="en-US" dirty="0"/>
              <a:t>이 여러분이 잘 아는 기체상수 입니다</a:t>
            </a:r>
            <a:r>
              <a:rPr lang="en-US" altLang="ko-KR" dirty="0"/>
              <a:t>. </a:t>
            </a:r>
            <a:r>
              <a:rPr lang="ko-KR" altLang="en-US" dirty="0"/>
              <a:t>그래서 이상기체의 </a:t>
            </a:r>
            <a:r>
              <a:rPr lang="ko-KR" altLang="en-US" dirty="0" err="1"/>
              <a:t>몰비열은</a:t>
            </a:r>
            <a:r>
              <a:rPr lang="ko-KR" altLang="en-US" dirty="0"/>
              <a:t> </a:t>
            </a:r>
            <a:r>
              <a:rPr lang="ko-KR" altLang="en-US" dirty="0" err="1"/>
              <a:t>단원자</a:t>
            </a:r>
            <a:r>
              <a:rPr lang="ko-KR" altLang="en-US" dirty="0"/>
              <a:t> 분자로 된 기체의 경우 </a:t>
            </a:r>
            <a:r>
              <a:rPr lang="en-US" altLang="ko-KR" dirty="0"/>
              <a:t>3/2 R, </a:t>
            </a:r>
            <a:r>
              <a:rPr lang="ko-KR" altLang="en-US" dirty="0"/>
              <a:t>공기처럼 이원자 분자로 된 기체의 경우 </a:t>
            </a:r>
            <a:r>
              <a:rPr lang="en-US" altLang="ko-KR" dirty="0"/>
              <a:t>5/2 R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옆에 보이는 </a:t>
            </a:r>
            <a:r>
              <a:rPr lang="en-US" altLang="ko-KR" dirty="0"/>
              <a:t>graph </a:t>
            </a:r>
            <a:r>
              <a:rPr lang="ko-KR" altLang="en-US" dirty="0"/>
              <a:t>가 나는 책에 나오지 않는 줄 알고 </a:t>
            </a:r>
            <a:r>
              <a:rPr lang="en-US" altLang="ko-KR" dirty="0"/>
              <a:t>Wikipedia </a:t>
            </a:r>
            <a:r>
              <a:rPr lang="ko-KR" altLang="en-US" dirty="0"/>
              <a:t>에 나온 </a:t>
            </a:r>
            <a:r>
              <a:rPr lang="en-US" altLang="ko-KR" dirty="0"/>
              <a:t>graph </a:t>
            </a:r>
            <a:r>
              <a:rPr lang="ko-KR" altLang="en-US" dirty="0"/>
              <a:t>를 지난 시간에 보였는데 책에 같은 그림이 뒤에 나와 있네요</a:t>
            </a:r>
            <a:r>
              <a:rPr lang="en-US" altLang="ko-KR" dirty="0"/>
              <a:t>. </a:t>
            </a:r>
            <a:r>
              <a:rPr lang="ko-KR" altLang="en-US" dirty="0"/>
              <a:t>이원자 분자 </a:t>
            </a:r>
            <a:r>
              <a:rPr lang="en-US" altLang="ko-KR" dirty="0"/>
              <a:t>H2 </a:t>
            </a:r>
            <a:r>
              <a:rPr lang="ko-KR" altLang="en-US" dirty="0"/>
              <a:t>로 이루어진 기체에서 온도가 바뀜에 따라 자유도 </a:t>
            </a:r>
            <a:r>
              <a:rPr lang="en-US" altLang="ko-KR" dirty="0"/>
              <a:t>f 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늘어나는 것이 보이고 지난 시간에 양자역학을 이용해서 계산할 수 있다고 하였습니다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이상기체의 </a:t>
            </a:r>
            <a:r>
              <a:rPr lang="en-US" altLang="ko-KR" dirty="0"/>
              <a:t>heat</a:t>
            </a:r>
            <a:r>
              <a:rPr lang="ko-KR" altLang="en-US" dirty="0"/>
              <a:t> </a:t>
            </a:r>
            <a:r>
              <a:rPr lang="en-US" altLang="ko-KR" dirty="0"/>
              <a:t>capacity at constant pressure </a:t>
            </a:r>
            <a:r>
              <a:rPr lang="ko-KR" altLang="en-US" dirty="0"/>
              <a:t>를 계산해 봅시다</a:t>
            </a:r>
            <a:r>
              <a:rPr lang="en-US" altLang="ko-KR" dirty="0"/>
              <a:t>. </a:t>
            </a:r>
            <a:r>
              <a:rPr lang="ko-KR" altLang="en-US" dirty="0"/>
              <a:t>두번째 항을 이상기체 상태방정식을 쓰면 바로 </a:t>
            </a:r>
            <a:r>
              <a:rPr lang="en-US" altLang="ko-KR" dirty="0" err="1"/>
              <a:t>nR</a:t>
            </a:r>
            <a:r>
              <a:rPr lang="en-US" altLang="ko-KR" dirty="0"/>
              <a:t> </a:t>
            </a:r>
            <a:r>
              <a:rPr lang="ko-KR" altLang="en-US" dirty="0"/>
              <a:t>로 계산할 수 있고 </a:t>
            </a:r>
            <a:r>
              <a:rPr lang="ko-KR" altLang="en-US" dirty="0" err="1"/>
              <a:t>이만큼이</a:t>
            </a:r>
            <a:r>
              <a:rPr lang="ko-KR" altLang="en-US" dirty="0"/>
              <a:t> 이상기체의 온도가 늘어나면서 이상기체 시스템이 </a:t>
            </a:r>
            <a:r>
              <a:rPr lang="en-US" altLang="ko-KR" dirty="0"/>
              <a:t>surrounding </a:t>
            </a:r>
            <a:r>
              <a:rPr lang="ko-KR" altLang="en-US" dirty="0"/>
              <a:t>에 하는 </a:t>
            </a:r>
            <a:r>
              <a:rPr lang="en-US" altLang="ko-KR" dirty="0"/>
              <a:t>pressure-volume work </a:t>
            </a:r>
            <a:r>
              <a:rPr lang="ko-KR" altLang="en-US" dirty="0"/>
              <a:t>을 위해 필요한 </a:t>
            </a:r>
            <a:r>
              <a:rPr lang="en-US" altLang="ko-KR" dirty="0"/>
              <a:t>extra heat</a:t>
            </a:r>
            <a:r>
              <a:rPr lang="ko-KR" altLang="en-US" dirty="0"/>
              <a:t> 입니다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186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역시 지난시간에 잠깐 소개했는데</a:t>
            </a:r>
            <a:r>
              <a:rPr lang="en-US" altLang="ko-KR" dirty="0"/>
              <a:t>, </a:t>
            </a:r>
            <a:r>
              <a:rPr lang="ko-KR" altLang="en-US" dirty="0"/>
              <a:t>고체 결정의 경우 결정을 이루는 한 원자당 자유도가 </a:t>
            </a:r>
            <a:r>
              <a:rPr lang="en-US" altLang="ko-KR" dirty="0"/>
              <a:t>f = 6 </a:t>
            </a:r>
            <a:r>
              <a:rPr lang="ko-KR" altLang="en-US" dirty="0"/>
              <a:t>이기 때문에 </a:t>
            </a:r>
            <a:r>
              <a:rPr lang="en-US" altLang="ko-KR" dirty="0"/>
              <a:t>heat</a:t>
            </a:r>
            <a:r>
              <a:rPr lang="ko-KR" altLang="en-US" dirty="0"/>
              <a:t> </a:t>
            </a:r>
            <a:r>
              <a:rPr lang="en-US" altLang="ko-KR" dirty="0"/>
              <a:t>capacity at</a:t>
            </a:r>
            <a:r>
              <a:rPr lang="ko-KR" altLang="en-US" dirty="0"/>
              <a:t> </a:t>
            </a:r>
            <a:r>
              <a:rPr lang="en-US" altLang="ko-KR" dirty="0"/>
              <a:t>constant volume </a:t>
            </a:r>
            <a:r>
              <a:rPr lang="ko-KR" altLang="en-US" dirty="0"/>
              <a:t>이 </a:t>
            </a:r>
            <a:r>
              <a:rPr lang="en-US" altLang="ko-KR" dirty="0"/>
              <a:t>1 mole </a:t>
            </a:r>
            <a:r>
              <a:rPr lang="ko-KR" altLang="en-US" dirty="0"/>
              <a:t>당 </a:t>
            </a:r>
            <a:r>
              <a:rPr lang="en-US" altLang="ko-KR" dirty="0"/>
              <a:t>3 R </a:t>
            </a:r>
            <a:r>
              <a:rPr lang="ko-KR" altLang="en-US" dirty="0"/>
              <a:t>이 되고 이걸 </a:t>
            </a:r>
            <a:r>
              <a:rPr lang="en-US" altLang="ko-KR" dirty="0"/>
              <a:t>Dulong-Petit rule </a:t>
            </a:r>
            <a:r>
              <a:rPr lang="ko-KR" altLang="en-US" dirty="0"/>
              <a:t>이라고 부른다고 하였습니다</a:t>
            </a:r>
            <a:r>
              <a:rPr lang="en-US" altLang="ko-KR" dirty="0"/>
              <a:t>. </a:t>
            </a:r>
            <a:r>
              <a:rPr lang="ko-KR" altLang="en-US" dirty="0"/>
              <a:t>그런데 </a:t>
            </a:r>
            <a:r>
              <a:rPr lang="en-US" altLang="ko-KR" dirty="0"/>
              <a:t>graph </a:t>
            </a:r>
            <a:r>
              <a:rPr lang="ko-KR" altLang="en-US" dirty="0"/>
              <a:t>를 보면 알 수 있지만 납과 같은 고체결정의 경우 상온에서 이 법칙을 잘 따라서 비열이 </a:t>
            </a:r>
            <a:r>
              <a:rPr lang="en-US" altLang="ko-KR" dirty="0"/>
              <a:t>3R</a:t>
            </a:r>
            <a:r>
              <a:rPr lang="ko-KR" altLang="en-US" dirty="0"/>
              <a:t>에 가깝지만</a:t>
            </a:r>
            <a:r>
              <a:rPr lang="en-US" altLang="ko-KR" dirty="0"/>
              <a:t>, aluminum </a:t>
            </a:r>
            <a:r>
              <a:rPr lang="ko-KR" altLang="en-US" dirty="0"/>
              <a:t>과 특히 </a:t>
            </a:r>
            <a:r>
              <a:rPr lang="en-US" altLang="ko-KR" dirty="0"/>
              <a:t>diamond </a:t>
            </a:r>
            <a:r>
              <a:rPr lang="ko-KR" altLang="en-US" dirty="0"/>
              <a:t>의 경우 </a:t>
            </a:r>
            <a:r>
              <a:rPr lang="en-US" altLang="ko-KR" dirty="0"/>
              <a:t>3R </a:t>
            </a:r>
            <a:r>
              <a:rPr lang="ko-KR" altLang="en-US" dirty="0"/>
              <a:t>보다 </a:t>
            </a:r>
            <a:r>
              <a:rPr lang="en-US" altLang="ko-KR" dirty="0"/>
              <a:t>heat capacity </a:t>
            </a:r>
            <a:r>
              <a:rPr lang="ko-KR" altLang="en-US" dirty="0"/>
              <a:t>가 한참 낮을 것을 알 수 있습니다</a:t>
            </a:r>
            <a:r>
              <a:rPr lang="en-US" altLang="ko-KR" dirty="0"/>
              <a:t>. </a:t>
            </a:r>
            <a:r>
              <a:rPr lang="ko-KR" altLang="en-US" dirty="0"/>
              <a:t>이 말은 </a:t>
            </a:r>
            <a:r>
              <a:rPr lang="en-US" altLang="ko-KR" dirty="0"/>
              <a:t>aluminum </a:t>
            </a:r>
            <a:r>
              <a:rPr lang="ko-KR" altLang="en-US" dirty="0"/>
              <a:t>이나 </a:t>
            </a:r>
            <a:r>
              <a:rPr lang="en-US" altLang="ko-KR" dirty="0"/>
              <a:t>diamond </a:t>
            </a:r>
            <a:r>
              <a:rPr lang="ko-KR" altLang="en-US" dirty="0"/>
              <a:t>의 경우 </a:t>
            </a:r>
            <a:r>
              <a:rPr lang="en-US" altLang="ko-KR" dirty="0"/>
              <a:t>degree of freedom </a:t>
            </a:r>
            <a:r>
              <a:rPr lang="ko-KR" altLang="en-US" dirty="0"/>
              <a:t>이 </a:t>
            </a:r>
            <a:r>
              <a:rPr lang="en-US" altLang="ko-KR" dirty="0"/>
              <a:t>6 </a:t>
            </a:r>
            <a:r>
              <a:rPr lang="ko-KR" altLang="en-US" dirty="0"/>
              <a:t>이 아니고 상당히 많이 </a:t>
            </a:r>
            <a:r>
              <a:rPr lang="en-US" altLang="ko-KR" dirty="0"/>
              <a:t>frozen out </a:t>
            </a:r>
            <a:r>
              <a:rPr lang="ko-KR" altLang="en-US" dirty="0"/>
              <a:t>되어 있다는 것을 말합니다</a:t>
            </a:r>
            <a:r>
              <a:rPr lang="en-US" altLang="ko-KR" dirty="0"/>
              <a:t>. </a:t>
            </a:r>
            <a:r>
              <a:rPr lang="ko-KR" altLang="en-US" dirty="0"/>
              <a:t>다르게 말하면 상온에서 </a:t>
            </a:r>
            <a:r>
              <a:rPr lang="en-US" altLang="ko-KR" dirty="0" err="1"/>
              <a:t>kT</a:t>
            </a:r>
            <a:r>
              <a:rPr lang="en-US" altLang="ko-KR" dirty="0"/>
              <a:t> &lt;&lt; e (e</a:t>
            </a:r>
            <a:r>
              <a:rPr lang="ko-KR" altLang="en-US" dirty="0"/>
              <a:t> </a:t>
            </a:r>
            <a:r>
              <a:rPr lang="en-US" altLang="ko-KR" dirty="0"/>
              <a:t>energy</a:t>
            </a:r>
            <a:r>
              <a:rPr lang="ko-KR" altLang="en-US" dirty="0"/>
              <a:t> </a:t>
            </a:r>
            <a:r>
              <a:rPr lang="en-US" altLang="ko-KR" dirty="0"/>
              <a:t>quanta)</a:t>
            </a:r>
            <a:r>
              <a:rPr lang="ko-KR" altLang="en-US" dirty="0"/>
              <a:t> 라는 것이고 왜 </a:t>
            </a:r>
            <a:r>
              <a:rPr lang="en-US" altLang="ko-KR" dirty="0"/>
              <a:t>diamond </a:t>
            </a:r>
            <a:r>
              <a:rPr lang="ko-KR" altLang="en-US" dirty="0"/>
              <a:t>의 </a:t>
            </a:r>
            <a:r>
              <a:rPr lang="en-US" altLang="ko-KR" dirty="0"/>
              <a:t>degree of freedom </a:t>
            </a:r>
            <a:r>
              <a:rPr lang="ko-KR" altLang="en-US" dirty="0"/>
              <a:t>이 </a:t>
            </a:r>
            <a:r>
              <a:rPr lang="en-US" altLang="ko-KR" dirty="0"/>
              <a:t>lead </a:t>
            </a:r>
            <a:r>
              <a:rPr lang="ko-KR" altLang="en-US" dirty="0"/>
              <a:t>보다 작아 많은 자유도가 </a:t>
            </a:r>
            <a:r>
              <a:rPr lang="en-US" altLang="ko-KR" dirty="0"/>
              <a:t>frozen out </a:t>
            </a:r>
            <a:r>
              <a:rPr lang="ko-KR" altLang="en-US" dirty="0"/>
              <a:t>되어 있는지는 일반물리에서 배운 진동의 </a:t>
            </a:r>
            <a:r>
              <a:rPr lang="en-US" altLang="ko-KR" dirty="0"/>
              <a:t>natural frequency </a:t>
            </a:r>
            <a:r>
              <a:rPr lang="ko-KR" altLang="en-US" dirty="0"/>
              <a:t>와 양자역학의 </a:t>
            </a:r>
            <a:r>
              <a:rPr lang="en-US" altLang="ko-KR" dirty="0"/>
              <a:t>harmonic oscillator </a:t>
            </a:r>
            <a:r>
              <a:rPr lang="ko-KR" altLang="en-US" dirty="0"/>
              <a:t>를 푼 것을 잘 생각해 보면 알 수 있을 것입니다</a:t>
            </a:r>
            <a:r>
              <a:rPr lang="en-US" altLang="ko-KR" dirty="0"/>
              <a:t>. </a:t>
            </a:r>
            <a:r>
              <a:rPr lang="ko-KR" altLang="en-US" dirty="0"/>
              <a:t>온도를 계속 낮추어 절대영도에 </a:t>
            </a:r>
            <a:r>
              <a:rPr lang="ko-KR" altLang="en-US" dirty="0" err="1"/>
              <a:t>가까와지면</a:t>
            </a:r>
            <a:r>
              <a:rPr lang="ko-KR" altLang="en-US" dirty="0"/>
              <a:t> 모든 </a:t>
            </a:r>
            <a:r>
              <a:rPr lang="en-US" altLang="ko-KR" dirty="0"/>
              <a:t>degree of freedom </a:t>
            </a:r>
            <a:r>
              <a:rPr lang="ko-KR" altLang="en-US" dirty="0"/>
              <a:t>이 </a:t>
            </a:r>
            <a:r>
              <a:rPr lang="en-US" altLang="ko-KR" dirty="0"/>
              <a:t>0 </a:t>
            </a:r>
            <a:r>
              <a:rPr lang="ko-KR" altLang="en-US" dirty="0"/>
              <a:t>으로 가서 비열도 </a:t>
            </a:r>
            <a:r>
              <a:rPr lang="en-US" altLang="ko-KR" dirty="0"/>
              <a:t>0 </a:t>
            </a:r>
            <a:r>
              <a:rPr lang="ko-KR" altLang="en-US" dirty="0"/>
              <a:t>이 되고</a:t>
            </a:r>
            <a:r>
              <a:rPr lang="en-US" altLang="ko-KR" dirty="0"/>
              <a:t>, </a:t>
            </a:r>
            <a:r>
              <a:rPr lang="ko-KR" altLang="en-US" dirty="0"/>
              <a:t>이 구체적인 </a:t>
            </a:r>
            <a:r>
              <a:rPr lang="en-US" altLang="ko-KR" dirty="0"/>
              <a:t>heat</a:t>
            </a:r>
            <a:r>
              <a:rPr lang="ko-KR" altLang="en-US" dirty="0"/>
              <a:t> </a:t>
            </a:r>
            <a:r>
              <a:rPr lang="en-US" altLang="ko-KR" dirty="0"/>
              <a:t>capacity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T</a:t>
            </a:r>
            <a:r>
              <a:rPr lang="ko-KR" altLang="en-US" dirty="0"/>
              <a:t> 의 모양을 </a:t>
            </a:r>
            <a:r>
              <a:rPr lang="en-US" altLang="ko-KR" dirty="0"/>
              <a:t>Debye model </a:t>
            </a:r>
            <a:r>
              <a:rPr lang="ko-KR" altLang="en-US" dirty="0"/>
              <a:t>이라고 해서 </a:t>
            </a:r>
            <a:r>
              <a:rPr lang="en-US" altLang="ko-KR" dirty="0"/>
              <a:t>2</a:t>
            </a:r>
            <a:r>
              <a:rPr lang="ko-KR" altLang="en-US" dirty="0"/>
              <a:t>학기에 계산하거나</a:t>
            </a:r>
            <a:r>
              <a:rPr lang="en-US" altLang="ko-KR" dirty="0"/>
              <a:t>,</a:t>
            </a:r>
            <a:r>
              <a:rPr lang="ko-KR" altLang="en-US" dirty="0"/>
              <a:t> 고체물리를 들어도 배울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23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물체에 열을 가했을 때 일어나는 온도변화 이외의 다른 현상을 생각해 보겠습니다</a:t>
            </a:r>
            <a:r>
              <a:rPr lang="en-US" altLang="ko-KR" dirty="0"/>
              <a:t>. </a:t>
            </a:r>
            <a:r>
              <a:rPr lang="ko-KR" altLang="en-US" dirty="0"/>
              <a:t>얼음의 녹는점이나 물의 끓는점 근처에서 열을 가하면 온도가 녹는점에서 유지된 체 녹아 물로 바뀌고 수증기가 될 때까지 온도가 </a:t>
            </a:r>
            <a:r>
              <a:rPr lang="en-US" altLang="ko-KR" dirty="0"/>
              <a:t>100 </a:t>
            </a:r>
            <a:r>
              <a:rPr lang="ko-KR" altLang="en-US" dirty="0"/>
              <a:t>도에서 바뀌지 않습니다</a:t>
            </a:r>
            <a:r>
              <a:rPr lang="en-US" altLang="ko-KR" dirty="0"/>
              <a:t>. </a:t>
            </a:r>
            <a:r>
              <a:rPr lang="ko-KR" altLang="en-US" dirty="0"/>
              <a:t>이렇게 </a:t>
            </a:r>
            <a:r>
              <a:rPr lang="ko-KR" altLang="en-US" dirty="0" err="1"/>
              <a:t>상변이</a:t>
            </a:r>
            <a:r>
              <a:rPr lang="ko-KR" altLang="en-US" dirty="0"/>
              <a:t> </a:t>
            </a:r>
            <a:r>
              <a:rPr lang="en-US" altLang="ko-KR" dirty="0"/>
              <a:t>(phase</a:t>
            </a:r>
            <a:r>
              <a:rPr lang="ko-KR" altLang="en-US" dirty="0"/>
              <a:t> </a:t>
            </a:r>
            <a:r>
              <a:rPr lang="en-US" altLang="ko-KR" dirty="0"/>
              <a:t>transition)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사용되는 열은 물체에 따라 유일한 물성이며 이걸 </a:t>
            </a:r>
            <a:r>
              <a:rPr lang="ko-KR" altLang="en-US" dirty="0" err="1"/>
              <a:t>잠열</a:t>
            </a:r>
            <a:r>
              <a:rPr lang="ko-KR" altLang="en-US" dirty="0"/>
              <a:t> </a:t>
            </a:r>
            <a:r>
              <a:rPr lang="en-US" altLang="ko-KR" dirty="0"/>
              <a:t>(latent heat)</a:t>
            </a:r>
            <a:r>
              <a:rPr lang="ko-KR" altLang="en-US" dirty="0"/>
              <a:t>이라고 부릅니다</a:t>
            </a:r>
            <a:r>
              <a:rPr lang="en-US" altLang="ko-KR" dirty="0"/>
              <a:t>. </a:t>
            </a:r>
            <a:r>
              <a:rPr lang="ko-KR" altLang="en-US" dirty="0"/>
              <a:t>예를 들어 얼음이 물로 바뀔 때의 융해열은 </a:t>
            </a:r>
            <a:r>
              <a:rPr lang="en-US" altLang="ko-KR" dirty="0"/>
              <a:t>333 J/g</a:t>
            </a:r>
            <a:r>
              <a:rPr lang="ko-KR" altLang="en-US" dirty="0"/>
              <a:t> 이고 물의 기화열은 </a:t>
            </a:r>
            <a:r>
              <a:rPr lang="en-US" altLang="ko-KR" dirty="0"/>
              <a:t>2260 J/g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이제 내부에너지</a:t>
            </a:r>
            <a:r>
              <a:rPr lang="en-US" altLang="ko-KR" dirty="0"/>
              <a:t>, </a:t>
            </a:r>
            <a:r>
              <a:rPr lang="ko-KR" altLang="en-US" dirty="0"/>
              <a:t>또는</a:t>
            </a:r>
            <a:r>
              <a:rPr lang="en-US" altLang="ko-KR" dirty="0"/>
              <a:t> thermal</a:t>
            </a:r>
            <a:r>
              <a:rPr lang="ko-KR" altLang="en-US" dirty="0"/>
              <a:t> </a:t>
            </a:r>
            <a:r>
              <a:rPr lang="en-US" altLang="ko-KR" dirty="0"/>
              <a:t>energy</a:t>
            </a:r>
            <a:r>
              <a:rPr lang="ko-KR" altLang="en-US" dirty="0"/>
              <a:t> </a:t>
            </a:r>
            <a:r>
              <a:rPr lang="en-US" altLang="ko-KR" dirty="0"/>
              <a:t>U</a:t>
            </a:r>
            <a:r>
              <a:rPr lang="ko-KR" altLang="en-US" dirty="0"/>
              <a:t> 와는 다른 에너지인 </a:t>
            </a:r>
            <a:r>
              <a:rPr lang="en-US" altLang="ko-KR" dirty="0"/>
              <a:t>enthalpy </a:t>
            </a:r>
            <a:r>
              <a:rPr lang="ko-KR" altLang="en-US" dirty="0"/>
              <a:t>를 소개하겠습니다</a:t>
            </a:r>
            <a:r>
              <a:rPr lang="en-US" altLang="ko-KR" dirty="0"/>
              <a:t>. </a:t>
            </a:r>
            <a:r>
              <a:rPr lang="ko-KR" altLang="en-US" dirty="0"/>
              <a:t>보통 우리가 열을 가할 때 </a:t>
            </a:r>
            <a:r>
              <a:rPr lang="en-US" altLang="ko-KR" dirty="0"/>
              <a:t>constant pressure </a:t>
            </a:r>
            <a:r>
              <a:rPr lang="ko-KR" altLang="en-US" dirty="0"/>
              <a:t>조건에서 에너지를 주는 경우가 많은데 이 경우 가해 준 </a:t>
            </a:r>
            <a:r>
              <a:rPr lang="en-US" altLang="ko-KR" dirty="0"/>
              <a:t>compression-expansion work </a:t>
            </a:r>
            <a:r>
              <a:rPr lang="ko-KR" altLang="en-US" dirty="0"/>
              <a:t>으로 사용되기 때문에 시스템의 에너지 </a:t>
            </a:r>
            <a:r>
              <a:rPr lang="en-US" altLang="ko-KR" dirty="0"/>
              <a:t>content </a:t>
            </a:r>
            <a:r>
              <a:rPr lang="ko-KR" altLang="en-US" dirty="0"/>
              <a:t>에 이런 </a:t>
            </a:r>
            <a:r>
              <a:rPr lang="en-US" altLang="ko-KR" dirty="0"/>
              <a:t>pressure-volume work </a:t>
            </a:r>
            <a:r>
              <a:rPr lang="ko-KR" altLang="en-US" dirty="0"/>
              <a:t>을 에너지 </a:t>
            </a:r>
            <a:r>
              <a:rPr lang="en-US" altLang="ko-KR" dirty="0"/>
              <a:t>U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더한 새로운 에너지를 정의하면 편리합니다</a:t>
            </a:r>
            <a:r>
              <a:rPr lang="en-US" altLang="ko-KR" dirty="0"/>
              <a:t>. </a:t>
            </a:r>
            <a:r>
              <a:rPr lang="ko-KR" altLang="en-US" dirty="0"/>
              <a:t>이렇게 </a:t>
            </a:r>
            <a:r>
              <a:rPr lang="en-US" altLang="ko-KR" dirty="0"/>
              <a:t>U + PV </a:t>
            </a:r>
            <a:r>
              <a:rPr lang="ko-KR" altLang="en-US" dirty="0"/>
              <a:t>로 정의한 </a:t>
            </a:r>
            <a:r>
              <a:rPr lang="en-US" altLang="ko-KR" dirty="0"/>
              <a:t>energy </a:t>
            </a:r>
            <a:r>
              <a:rPr lang="ko-KR" altLang="en-US" dirty="0"/>
              <a:t>를 </a:t>
            </a:r>
            <a:r>
              <a:rPr lang="en-US" altLang="ko-KR" dirty="0"/>
              <a:t>enthalpy </a:t>
            </a:r>
            <a:r>
              <a:rPr lang="ko-KR" altLang="en-US" dirty="0"/>
              <a:t>라고 부릅니다</a:t>
            </a:r>
            <a:r>
              <a:rPr lang="en-US" altLang="ko-KR" dirty="0"/>
              <a:t>. </a:t>
            </a:r>
            <a:r>
              <a:rPr lang="ko-KR" altLang="en-US" dirty="0"/>
              <a:t>책의 그림 </a:t>
            </a:r>
            <a:r>
              <a:rPr lang="en-US" altLang="ko-KR" dirty="0"/>
              <a:t>1.15 </a:t>
            </a:r>
            <a:r>
              <a:rPr lang="ko-KR" altLang="en-US" dirty="0"/>
              <a:t>를 보면 이렇게 </a:t>
            </a:r>
            <a:r>
              <a:rPr lang="en-US" altLang="ko-KR" dirty="0"/>
              <a:t>enthalpy </a:t>
            </a:r>
            <a:r>
              <a:rPr lang="ko-KR" altLang="en-US" dirty="0"/>
              <a:t>라는 에너지를 새로 정의하면 편리한 이유를 알 수 있을 것입니다</a:t>
            </a:r>
            <a:r>
              <a:rPr lang="en-US" altLang="ko-KR" dirty="0"/>
              <a:t>. Enthalpy </a:t>
            </a:r>
            <a:r>
              <a:rPr lang="ko-KR" altLang="en-US" dirty="0"/>
              <a:t>말고도 다음에 </a:t>
            </a:r>
            <a:r>
              <a:rPr lang="en-US" altLang="ko-KR" dirty="0"/>
              <a:t>Helmholtz free energy </a:t>
            </a:r>
            <a:r>
              <a:rPr lang="ko-KR" altLang="en-US" dirty="0"/>
              <a:t>와 </a:t>
            </a:r>
            <a:r>
              <a:rPr lang="en-US" altLang="ko-KR" dirty="0"/>
              <a:t>Gibbs free energy </a:t>
            </a:r>
            <a:r>
              <a:rPr lang="ko-KR" altLang="en-US" dirty="0"/>
              <a:t>라는 에너지들을 또 정의해서 사용하게 되고 이러한 </a:t>
            </a:r>
            <a:r>
              <a:rPr lang="en-US" altLang="ko-KR" dirty="0"/>
              <a:t>energy </a:t>
            </a:r>
            <a:r>
              <a:rPr lang="ko-KR" altLang="en-US" dirty="0"/>
              <a:t>들을 </a:t>
            </a:r>
            <a:r>
              <a:rPr lang="en-US" altLang="ko-KR" dirty="0"/>
              <a:t>free energy </a:t>
            </a:r>
            <a:r>
              <a:rPr lang="ko-KR" altLang="en-US" dirty="0"/>
              <a:t>또는 </a:t>
            </a:r>
            <a:r>
              <a:rPr lang="en-US" altLang="ko-KR" dirty="0"/>
              <a:t>thermodynamic potential </a:t>
            </a:r>
            <a:r>
              <a:rPr lang="ko-KR" altLang="en-US" dirty="0"/>
              <a:t>이라고 하여 열역학과 물리화학 등에서 매우 중요한 </a:t>
            </a:r>
            <a:r>
              <a:rPr lang="ko-KR" altLang="en-US" dirty="0" err="1"/>
              <a:t>물리량들입니다</a:t>
            </a:r>
            <a:r>
              <a:rPr lang="en-US" altLang="ko-KR" dirty="0"/>
              <a:t>. </a:t>
            </a:r>
            <a:r>
              <a:rPr lang="ko-KR" altLang="en-US" dirty="0"/>
              <a:t>아래 식에서 </a:t>
            </a:r>
            <a:r>
              <a:rPr lang="en-US" altLang="ko-KR" dirty="0"/>
              <a:t>constant pressure </a:t>
            </a:r>
            <a:r>
              <a:rPr lang="ko-KR" altLang="en-US" dirty="0"/>
              <a:t>라는 조건에서 </a:t>
            </a:r>
            <a:r>
              <a:rPr lang="en-US" altLang="ko-KR" dirty="0"/>
              <a:t>H </a:t>
            </a:r>
            <a:r>
              <a:rPr lang="ko-KR" altLang="en-US" dirty="0"/>
              <a:t>가</a:t>
            </a:r>
            <a:r>
              <a:rPr lang="en-US" altLang="ko-KR" dirty="0"/>
              <a:t> Del H </a:t>
            </a:r>
            <a:r>
              <a:rPr lang="ko-KR" altLang="en-US" dirty="0"/>
              <a:t>만큼 변화할 때 </a:t>
            </a:r>
            <a:r>
              <a:rPr lang="en-US" altLang="ko-KR" dirty="0"/>
              <a:t>Del U </a:t>
            </a:r>
            <a:r>
              <a:rPr lang="ko-KR" altLang="en-US" dirty="0"/>
              <a:t>는 내부에너지의 변화분이 되고 </a:t>
            </a:r>
            <a:r>
              <a:rPr lang="en-US" altLang="ko-KR" dirty="0"/>
              <a:t>P*(Del V) </a:t>
            </a:r>
            <a:r>
              <a:rPr lang="ko-KR" altLang="en-US" dirty="0"/>
              <a:t>는 시스템의 부피변화에 의해 </a:t>
            </a:r>
            <a:r>
              <a:rPr lang="en-US" altLang="ko-KR" dirty="0"/>
              <a:t>atmosphere (surrounding) </a:t>
            </a:r>
            <a:r>
              <a:rPr lang="ko-KR" altLang="en-US" dirty="0"/>
              <a:t>에 해 준 </a:t>
            </a:r>
            <a:r>
              <a:rPr lang="en-US" altLang="ko-KR" dirty="0"/>
              <a:t>pressure-volume work </a:t>
            </a:r>
            <a:r>
              <a:rPr lang="ko-KR" altLang="en-US" dirty="0"/>
              <a:t>이 된다는 것을 알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53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열역학 </a:t>
            </a:r>
            <a:r>
              <a:rPr lang="en-US" altLang="ko-KR" dirty="0"/>
              <a:t>1 </a:t>
            </a:r>
            <a:r>
              <a:rPr lang="ko-KR" altLang="en-US" dirty="0"/>
              <a:t>법칙을 다시 써 봅시다</a:t>
            </a:r>
            <a:r>
              <a:rPr lang="en-US" altLang="ko-KR" dirty="0"/>
              <a:t>.  Del U = Q + W </a:t>
            </a:r>
            <a:r>
              <a:rPr lang="ko-KR" altLang="en-US" dirty="0"/>
              <a:t>에서 </a:t>
            </a:r>
            <a:r>
              <a:rPr lang="en-US" altLang="ko-KR" dirty="0"/>
              <a:t>W </a:t>
            </a:r>
            <a:r>
              <a:rPr lang="ko-KR" altLang="en-US" dirty="0"/>
              <a:t>는 </a:t>
            </a:r>
            <a:r>
              <a:rPr lang="en-US" altLang="ko-KR" dirty="0"/>
              <a:t>pressure-volume work </a:t>
            </a:r>
            <a:r>
              <a:rPr lang="ko-KR" altLang="en-US" dirty="0"/>
              <a:t>과 이 이외의 다른 일들인데</a:t>
            </a:r>
            <a:r>
              <a:rPr lang="en-US" altLang="ko-KR" dirty="0"/>
              <a:t>, </a:t>
            </a:r>
            <a:r>
              <a:rPr lang="ko-KR" altLang="en-US" dirty="0"/>
              <a:t>이 식을 사용해서 </a:t>
            </a:r>
            <a:r>
              <a:rPr lang="en-US" altLang="ko-KR" dirty="0"/>
              <a:t>enthalpy </a:t>
            </a:r>
            <a:r>
              <a:rPr lang="ko-KR" altLang="en-US" dirty="0"/>
              <a:t>를 다시 쓰면 </a:t>
            </a:r>
            <a:r>
              <a:rPr lang="en-US" altLang="ko-KR" dirty="0"/>
              <a:t>H = Q + </a:t>
            </a:r>
            <a:r>
              <a:rPr lang="en-US" altLang="ko-KR" dirty="0" err="1"/>
              <a:t>W_other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enthalpy change </a:t>
            </a:r>
            <a:r>
              <a:rPr lang="ko-KR" altLang="en-US" dirty="0"/>
              <a:t>는 시스템에 가해준 열이나 </a:t>
            </a:r>
            <a:r>
              <a:rPr lang="en-US" altLang="ko-KR" dirty="0"/>
              <a:t>pressure-volume work </a:t>
            </a:r>
            <a:r>
              <a:rPr lang="ko-KR" altLang="en-US" dirty="0"/>
              <a:t>이외의 일에 의한다는 것을 알 수 있습니다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en-US" altLang="ko-KR" dirty="0"/>
              <a:t>pressure-volume work </a:t>
            </a:r>
            <a:r>
              <a:rPr lang="ko-KR" altLang="en-US" dirty="0"/>
              <a:t>이외의 일이 가해지지 않는다면 </a:t>
            </a:r>
            <a:r>
              <a:rPr lang="en-US" altLang="ko-KR" dirty="0"/>
              <a:t>enthalpy </a:t>
            </a:r>
            <a:r>
              <a:rPr lang="ko-KR" altLang="en-US" dirty="0"/>
              <a:t>는 시스템에 가해준 </a:t>
            </a:r>
            <a:r>
              <a:rPr lang="en-US" altLang="ko-KR" dirty="0"/>
              <a:t>heat Q </a:t>
            </a:r>
            <a:r>
              <a:rPr lang="ko-KR" altLang="en-US" dirty="0"/>
              <a:t>와 같고 그래서 </a:t>
            </a:r>
            <a:r>
              <a:rPr lang="en-US" altLang="ko-KR" dirty="0"/>
              <a:t>heat</a:t>
            </a:r>
            <a:r>
              <a:rPr lang="ko-KR" altLang="en-US" dirty="0"/>
              <a:t> 의 첫 글자를 따서 </a:t>
            </a:r>
            <a:r>
              <a:rPr lang="en-US" altLang="ko-KR" dirty="0"/>
              <a:t>enthalpy </a:t>
            </a:r>
            <a:r>
              <a:rPr lang="ko-KR" altLang="en-US" dirty="0"/>
              <a:t>를 보통 </a:t>
            </a:r>
            <a:r>
              <a:rPr lang="en-US" altLang="ko-KR" dirty="0"/>
              <a:t>H </a:t>
            </a:r>
            <a:r>
              <a:rPr lang="ko-KR" altLang="en-US" dirty="0"/>
              <a:t>로 쓰는 것입니다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이제 </a:t>
            </a:r>
            <a:r>
              <a:rPr lang="en-US" altLang="ko-KR" dirty="0"/>
              <a:t>heat capacity at constant pressure </a:t>
            </a:r>
            <a:r>
              <a:rPr lang="ko-KR" altLang="en-US" dirty="0"/>
              <a:t>를 다시 보면 이건 바로 </a:t>
            </a:r>
            <a:r>
              <a:rPr lang="en-US" altLang="ko-KR" dirty="0"/>
              <a:t>(Del H)/(Del T) </a:t>
            </a:r>
            <a:r>
              <a:rPr lang="ko-KR" altLang="en-US" dirty="0"/>
              <a:t>와 같다는 것을 알 수 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28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Enthalpy </a:t>
            </a:r>
            <a:r>
              <a:rPr lang="ko-KR" altLang="en-US" dirty="0"/>
              <a:t>는 특히 화학 반응이나 상전이 등에서 매우 유용한 </a:t>
            </a:r>
            <a:r>
              <a:rPr lang="ko-KR" altLang="en-US" dirty="0" err="1"/>
              <a:t>물리량이고</a:t>
            </a:r>
            <a:r>
              <a:rPr lang="ko-KR" altLang="en-US" dirty="0"/>
              <a:t> </a:t>
            </a:r>
            <a:r>
              <a:rPr lang="en-US" altLang="ko-KR" dirty="0"/>
              <a:t>physical chemistry </a:t>
            </a:r>
            <a:r>
              <a:rPr lang="ko-KR" altLang="en-US" dirty="0"/>
              <a:t>책의 뒤에는 중요한 반응들에 대한 </a:t>
            </a:r>
            <a:r>
              <a:rPr lang="en-US" altLang="ko-KR" dirty="0"/>
              <a:t>enthalpy </a:t>
            </a:r>
            <a:r>
              <a:rPr lang="ko-KR" altLang="en-US" dirty="0"/>
              <a:t>가 </a:t>
            </a:r>
            <a:r>
              <a:rPr lang="en-US" altLang="ko-KR" dirty="0"/>
              <a:t>table 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정리되어 있어서 찾아보면 바로 이러한 반응들에 필요한 </a:t>
            </a:r>
            <a:r>
              <a:rPr lang="en-US" altLang="ko-KR" dirty="0"/>
              <a:t>enthalpy </a:t>
            </a:r>
            <a:r>
              <a:rPr lang="ko-KR" altLang="en-US" dirty="0"/>
              <a:t>를 바로 알 수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예를 들어 </a:t>
            </a:r>
            <a:r>
              <a:rPr lang="en-US" altLang="ko-KR" dirty="0"/>
              <a:t>1 mole (18 g)</a:t>
            </a:r>
            <a:r>
              <a:rPr lang="ko-KR" altLang="en-US" dirty="0"/>
              <a:t>의 물이 끓어 수증기가 되는 </a:t>
            </a:r>
            <a:r>
              <a:rPr lang="en-US" altLang="ko-KR" dirty="0"/>
              <a:t>phase transition reaction </a:t>
            </a:r>
            <a:r>
              <a:rPr lang="ko-KR" altLang="en-US" dirty="0"/>
              <a:t>의 </a:t>
            </a:r>
            <a:r>
              <a:rPr lang="en-US" altLang="ko-KR" dirty="0"/>
              <a:t>enthalpy </a:t>
            </a:r>
            <a:r>
              <a:rPr lang="ko-KR" altLang="en-US" dirty="0"/>
              <a:t>는 </a:t>
            </a:r>
            <a:r>
              <a:rPr lang="en-US" altLang="ko-KR" dirty="0"/>
              <a:t>40,660 J</a:t>
            </a:r>
            <a:r>
              <a:rPr lang="ko-KR" altLang="en-US" dirty="0"/>
              <a:t> 입니다</a:t>
            </a:r>
            <a:r>
              <a:rPr lang="en-US" altLang="ko-KR" dirty="0"/>
              <a:t>. </a:t>
            </a:r>
            <a:r>
              <a:rPr lang="ko-KR" altLang="en-US" dirty="0"/>
              <a:t>이 값은 바로 전에 배운 물이 수증기가 되는 기화열 </a:t>
            </a:r>
            <a:r>
              <a:rPr lang="en-US" altLang="ko-KR" dirty="0"/>
              <a:t>(latent heat)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반응에서 얼마의 에너지가 수증기의 내부에너지 증가로 갔는지를 알아보려면 </a:t>
            </a:r>
            <a:r>
              <a:rPr lang="en-US" altLang="ko-KR" dirty="0"/>
              <a:t>pressure-volume work </a:t>
            </a:r>
            <a:r>
              <a:rPr lang="ko-KR" altLang="en-US" dirty="0"/>
              <a:t>을 계산해 보면 되고 수증기가 되기 전 물의 부피를 무시하면 이 </a:t>
            </a:r>
            <a:r>
              <a:rPr lang="en-US" altLang="ko-KR" dirty="0"/>
              <a:t>pressure-volume work </a:t>
            </a:r>
            <a:r>
              <a:rPr lang="ko-KR" altLang="en-US" dirty="0"/>
              <a:t>은 이상기체 상태방정식에 의해 </a:t>
            </a:r>
            <a:r>
              <a:rPr lang="en-US" altLang="ko-KR" dirty="0"/>
              <a:t>3100 J</a:t>
            </a:r>
            <a:r>
              <a:rPr lang="ko-KR" altLang="en-US" dirty="0"/>
              <a:t> 이 됩니다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18 g </a:t>
            </a:r>
            <a:r>
              <a:rPr lang="ko-KR" altLang="en-US" dirty="0"/>
              <a:t>의 물이 수증기가 되면 </a:t>
            </a:r>
            <a:r>
              <a:rPr lang="en-US" altLang="ko-KR" dirty="0"/>
              <a:t>40,660 J </a:t>
            </a:r>
            <a:r>
              <a:rPr lang="ko-KR" altLang="en-US" dirty="0"/>
              <a:t>에서 </a:t>
            </a:r>
            <a:r>
              <a:rPr lang="en-US" altLang="ko-KR" dirty="0"/>
              <a:t>3100 J </a:t>
            </a:r>
            <a:r>
              <a:rPr lang="ko-KR" altLang="en-US" dirty="0"/>
              <a:t>을 </a:t>
            </a:r>
            <a:r>
              <a:rPr lang="ko-KR" altLang="en-US" dirty="0" err="1"/>
              <a:t>빼준</a:t>
            </a:r>
            <a:r>
              <a:rPr lang="ko-KR" altLang="en-US" dirty="0"/>
              <a:t> 만큼 시스템 </a:t>
            </a:r>
            <a:r>
              <a:rPr lang="en-US" altLang="ko-KR" dirty="0"/>
              <a:t>(18</a:t>
            </a:r>
            <a:r>
              <a:rPr lang="ko-KR" altLang="en-US" dirty="0"/>
              <a:t> </a:t>
            </a:r>
            <a:r>
              <a:rPr lang="en-US" altLang="ko-KR" dirty="0"/>
              <a:t>g </a:t>
            </a:r>
            <a:r>
              <a:rPr lang="ko-KR" altLang="en-US" dirty="0"/>
              <a:t>의 수증기</a:t>
            </a:r>
            <a:r>
              <a:rPr lang="en-US" altLang="ko-KR" dirty="0"/>
              <a:t>) </a:t>
            </a:r>
            <a:r>
              <a:rPr lang="ko-KR" altLang="en-US" dirty="0"/>
              <a:t>의 에너지가 증가하는 것입니다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이제 산소 기체와 수소 기체가 반응하여 </a:t>
            </a:r>
            <a:r>
              <a:rPr lang="en-US" altLang="ko-KR" dirty="0"/>
              <a:t>1mole </a:t>
            </a:r>
            <a:r>
              <a:rPr lang="ko-KR" altLang="en-US" dirty="0"/>
              <a:t>의 물이 만들어지는 화학 반응을 생각해 봅시다</a:t>
            </a:r>
            <a:r>
              <a:rPr lang="en-US" altLang="ko-KR" dirty="0"/>
              <a:t>. </a:t>
            </a:r>
            <a:r>
              <a:rPr lang="ko-KR" altLang="en-US" dirty="0"/>
              <a:t>이 반응의 </a:t>
            </a:r>
            <a:r>
              <a:rPr lang="en-US" altLang="ko-KR" dirty="0"/>
              <a:t>enthalpy </a:t>
            </a:r>
            <a:r>
              <a:rPr lang="ko-KR" altLang="en-US" dirty="0"/>
              <a:t>변화는 </a:t>
            </a:r>
            <a:r>
              <a:rPr lang="en-US" altLang="ko-KR" dirty="0"/>
              <a:t>– 286 kJ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중 </a:t>
            </a:r>
            <a:r>
              <a:rPr lang="en-US" altLang="ko-KR" dirty="0"/>
              <a:t>pressure-volume</a:t>
            </a:r>
            <a:r>
              <a:rPr lang="ko-KR" altLang="en-US" dirty="0"/>
              <a:t> </a:t>
            </a:r>
            <a:r>
              <a:rPr lang="en-US" altLang="ko-KR" dirty="0"/>
              <a:t>work 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뺀 나머지 부분이 열로 방출되게 되는데</a:t>
            </a:r>
            <a:r>
              <a:rPr lang="en-US" altLang="ko-KR" dirty="0"/>
              <a:t>, </a:t>
            </a:r>
            <a:r>
              <a:rPr lang="ko-KR" altLang="en-US" dirty="0"/>
              <a:t>이 반응의 </a:t>
            </a:r>
            <a:r>
              <a:rPr lang="en-US" altLang="ko-KR" dirty="0"/>
              <a:t>pressure-volume work </a:t>
            </a:r>
            <a:r>
              <a:rPr lang="ko-KR" altLang="en-US" dirty="0"/>
              <a:t>을 각자 계산해 보기 바랍니다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B8350-8A04-4608-AFDB-0E6A950007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937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70363-2F2F-E14E-1867-BB418B549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BF488F-D1F6-DD4F-74B1-54809C5BE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83F0E-AC96-2C8B-AFEB-5C6DFE7A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6EA71-59CE-A1BF-BBAB-B2FAEFD2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CE3CFB-6A51-8D84-34F6-7ECF17E9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6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54049-EFDC-C211-ED70-97D11A56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5E80-D08A-4EE4-4F4D-D8FCD2E4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25F72-E2F9-8C4B-FD90-E5D8C956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F6C0ED-2BC5-C459-039F-C80D2EA3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7A2F71-F05F-791F-40E5-8F31D526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58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BF697-EA89-9763-28A8-BAFB3A09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5A180-E5CC-5B96-7C15-73D57E7C3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0309F6-44DA-6E92-F0DC-76728479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A32A6-326F-26AD-4199-6F1DAA53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8F72C-6E32-C17D-A67D-3700EF10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3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2CDCD-2E44-4FCE-1849-3A88C443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F5780-627C-BF2F-411C-F9087B9C5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00FD4D-F70D-D715-5599-ABE4F3CED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D717B-C1C5-4ADB-85A6-9F67B9FD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F73D6-E27A-AED0-7260-3E59F260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02FA53-8D55-2365-B0C1-677969E9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16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3E417-116D-8CBE-B459-C3410750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BAD205-45C1-2491-253E-C4AD613C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29085-916B-C6F0-E156-50D64527F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637D2-AFB4-29D0-7451-4EBD90759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D6F442-0359-BB9A-3FEA-BB99B18A1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D0BE84-57F3-8E64-9CA0-DFEDFCCF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4E145F-8A0A-0D30-18A8-2002B8DF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6A3657-BF3D-3729-A713-B7C1FF28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7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36269-A7B4-6B7A-992E-5709C3A9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281288-EC70-0096-614A-BAE416BD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47F1F5-7AB3-760B-7BC6-BB725522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5DADBD-B4E5-A486-1DFB-7ED163C8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65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8FDBF8-4A93-BA70-FA2B-80ADBE98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253D2D-A3DE-9CF2-85D5-9BD0401E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A060C7-F5A2-2380-90B6-97255B53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8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D9939-59DB-ACC2-731A-2601EFE5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B5F93-8737-DA0D-A61A-1FE9B36A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E9E9A4-2A2D-D813-B1E1-402B1EF4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C467B-29BE-CD18-D52D-A72BE67F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3B8CC4-FEF4-197F-BA6E-FB87C544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AD6A49-EBE3-B10C-C715-E34805EE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6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296CF-C410-F0DA-EB40-DA9A66979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3EC4A5-FD4B-2A71-8E6B-C079BC6B2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114B99-20FB-657D-F5FC-D2ED5D304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4CB617-4CE6-E0CD-265C-34C5BFE7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B93E3D-E226-AAD7-453F-D0816FB2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E1BEA7-64FF-09BC-9EC0-41B4F1CB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14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BB38A-FE9A-DBF8-7AC6-4A6D8C4E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09D6B3-5933-30AC-F685-ADD267EF1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829AB-F4AF-B035-EA94-C5FA3734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1185B-D9CC-C873-D2AF-0FB85307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601A37-6A65-7253-F16F-26EAC11D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50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73764D-E0B3-E5AD-41E8-F97CCD817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EB0327-BFFB-6C1D-58EF-408436AAE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A4E3C-7607-88B3-67D5-14856501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B1184-7983-37B2-1DF1-CAB13383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C3FFEB-16BD-7733-2D23-F48E1B1B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86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07C082-2715-3FA6-C154-27865C79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7C6A9-F23E-54F8-F2BE-64C931A0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F1491-362E-3E2F-D761-7EC4B45D9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1F284-CA1A-43F6-A574-8660A0C56E30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4FE6FD-DDC2-D776-B59E-30CF4151B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6C01B-96CD-58CD-BD6C-0CF983125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F7A1B-070B-41CA-A785-AEE2F56836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3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F35184-FEE6-FAAF-9878-0948750A0803}"/>
              </a:ext>
            </a:extLst>
          </p:cNvPr>
          <p:cNvSpPr txBox="1"/>
          <p:nvPr/>
        </p:nvSpPr>
        <p:spPr>
          <a:xfrm>
            <a:off x="716440" y="402035"/>
            <a:ext cx="1056963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Ch. 1.6 Heat capacities</a:t>
            </a:r>
          </a:p>
          <a:p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Heat capacity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 amount of heat needed to raise its temperature (1 K),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Specific heat capacity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heat capacity per unit mass,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The amount of heat needed to raise an object’s temperature by 1 K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depends on the circumstances,</a:t>
            </a:r>
          </a:p>
          <a:p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 on whether you’re also doing work on the object, as,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 we can consider two cases that are most likely to occur, </a:t>
            </a:r>
          </a:p>
          <a:p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1st being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-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i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0.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개체 6">
                <a:extLst>
                  <a:ext uri="{FF2B5EF4-FFF2-40B4-BE49-F238E27FC236}">
                    <a16:creationId xmlns:a16="http://schemas.microsoft.com/office/drawing/2014/main" id="{2A2034FE-1C8B-4374-C08B-34DE8B91D039}"/>
                  </a:ext>
                </a:extLst>
              </p:cNvPr>
              <p:cNvSpPr txBox="1"/>
              <p:nvPr/>
            </p:nvSpPr>
            <p:spPr>
              <a:xfrm>
                <a:off x="8157234" y="988055"/>
                <a:ext cx="956813" cy="706219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7" name="개체 6">
                <a:extLst>
                  <a:ext uri="{FF2B5EF4-FFF2-40B4-BE49-F238E27FC236}">
                    <a16:creationId xmlns:a16="http://schemas.microsoft.com/office/drawing/2014/main" id="{2A2034FE-1C8B-4374-C08B-34DE8B91D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234" y="988055"/>
                <a:ext cx="956813" cy="706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09928CB4-6070-00CE-A33B-E2FD4724EFC0}"/>
                  </a:ext>
                </a:extLst>
              </p:cNvPr>
              <p:cNvSpPr txBox="1"/>
              <p:nvPr/>
            </p:nvSpPr>
            <p:spPr>
              <a:xfrm>
                <a:off x="6562682" y="1694274"/>
                <a:ext cx="728663" cy="706437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09928CB4-6070-00CE-A33B-E2FD4724E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682" y="1694274"/>
                <a:ext cx="728663" cy="706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개체 8">
                <a:extLst>
                  <a:ext uri="{FF2B5EF4-FFF2-40B4-BE49-F238E27FC236}">
                    <a16:creationId xmlns:a16="http://schemas.microsoft.com/office/drawing/2014/main" id="{C41390B2-0F76-027D-59B2-64F78E3164A3}"/>
                  </a:ext>
                </a:extLst>
              </p:cNvPr>
              <p:cNvSpPr txBox="1"/>
              <p:nvPr/>
            </p:nvSpPr>
            <p:spPr>
              <a:xfrm>
                <a:off x="2062357" y="3658305"/>
                <a:ext cx="2139950" cy="7064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9" name="개체 8">
                <a:extLst>
                  <a:ext uri="{FF2B5EF4-FFF2-40B4-BE49-F238E27FC236}">
                    <a16:creationId xmlns:a16="http://schemas.microsoft.com/office/drawing/2014/main" id="{C41390B2-0F76-027D-59B2-64F78E316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357" y="3658305"/>
                <a:ext cx="2139950" cy="706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18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07DDF9-F0B4-2AFD-0340-58E18C60E6FE}"/>
              </a:ext>
            </a:extLst>
          </p:cNvPr>
          <p:cNvSpPr txBox="1"/>
          <p:nvPr/>
        </p:nvSpPr>
        <p:spPr>
          <a:xfrm>
            <a:off x="460076" y="5255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Heat capacity at constant volume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22B95C3D-FC51-CEEE-0F8E-843353EA009E}"/>
                  </a:ext>
                </a:extLst>
              </p:cNvPr>
              <p:cNvSpPr txBox="1"/>
              <p:nvPr/>
            </p:nvSpPr>
            <p:spPr>
              <a:xfrm>
                <a:off x="2082171" y="1239056"/>
                <a:ext cx="3760787" cy="7969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22B95C3D-FC51-CEEE-0F8E-843353EA0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171" y="1239056"/>
                <a:ext cx="3760787" cy="796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3EB1C6E-B26F-88D1-926B-9DE599AE768B}"/>
              </a:ext>
            </a:extLst>
          </p:cNvPr>
          <p:cNvSpPr txBox="1"/>
          <p:nvPr/>
        </p:nvSpPr>
        <p:spPr>
          <a:xfrm>
            <a:off x="3068275" y="2194440"/>
            <a:ext cx="535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e.g. for a gram of water,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ko-KR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1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ko-K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4.2 J/</a:t>
            </a:r>
            <a:r>
              <a:rPr lang="en-US" altLang="ko-K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07771952-BBFB-422C-B506-8DDE08A8D935}"/>
                  </a:ext>
                </a:extLst>
              </p:cNvPr>
              <p:cNvSpPr txBox="1"/>
              <p:nvPr/>
            </p:nvSpPr>
            <p:spPr>
              <a:xfrm>
                <a:off x="2082171" y="4982743"/>
                <a:ext cx="5994400" cy="7969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07771952-BBFB-422C-B506-8DDE08A8D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171" y="4982743"/>
                <a:ext cx="5994400" cy="796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0F117EB-1105-8307-7253-7D6E42C009A2}"/>
              </a:ext>
            </a:extLst>
          </p:cNvPr>
          <p:cNvSpPr txBox="1"/>
          <p:nvPr/>
        </p:nvSpPr>
        <p:spPr>
          <a:xfrm>
            <a:off x="7484354" y="6070679"/>
            <a:ext cx="4094153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Additional heat needed to compensate for the energy lost as work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BFD9D-A032-21EB-260E-25884D703EE6}"/>
              </a:ext>
            </a:extLst>
          </p:cNvPr>
          <p:cNvSpPr txBox="1"/>
          <p:nvPr/>
        </p:nvSpPr>
        <p:spPr>
          <a:xfrm>
            <a:off x="460076" y="3524768"/>
            <a:ext cx="11542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 the usual case objects often expand (so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doing pressure-volume work on the surroundings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as they are heated.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2. Heat capacity at constant pressure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36DFADB-F272-763C-BB9A-5F0D9EA867FF}"/>
              </a:ext>
            </a:extLst>
          </p:cNvPr>
          <p:cNvSpPr/>
          <p:nvPr/>
        </p:nvSpPr>
        <p:spPr>
          <a:xfrm>
            <a:off x="6926513" y="4874552"/>
            <a:ext cx="1115683" cy="104667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88BBAAD-5542-AF80-D2CD-29164BC7C872}"/>
              </a:ext>
            </a:extLst>
          </p:cNvPr>
          <p:cNvCxnSpPr/>
          <p:nvPr/>
        </p:nvCxnSpPr>
        <p:spPr>
          <a:xfrm flipH="1" flipV="1">
            <a:off x="7775838" y="5843910"/>
            <a:ext cx="171879" cy="2130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43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DC656D-F869-AB4A-9F87-6F969AB3B368}"/>
              </a:ext>
            </a:extLst>
          </p:cNvPr>
          <p:cNvSpPr txBox="1"/>
          <p:nvPr/>
        </p:nvSpPr>
        <p:spPr>
          <a:xfrm>
            <a:off x="385313" y="569343"/>
            <a:ext cx="74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For ideal gas (each molecule having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degrees of freedom),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6B2AA59A-5BDE-D132-D17D-922A268A9A57}"/>
                  </a:ext>
                </a:extLst>
              </p:cNvPr>
              <p:cNvSpPr txBox="1"/>
              <p:nvPr/>
            </p:nvSpPr>
            <p:spPr>
              <a:xfrm>
                <a:off x="1068895" y="1310503"/>
                <a:ext cx="4264025" cy="7969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𝑘𝑇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8" name="개체 7">
                <a:extLst>
                  <a:ext uri="{FF2B5EF4-FFF2-40B4-BE49-F238E27FC236}">
                    <a16:creationId xmlns:a16="http://schemas.microsoft.com/office/drawing/2014/main" id="{6B2AA59A-5BDE-D132-D17D-922A268A9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95" y="1310503"/>
                <a:ext cx="4264025" cy="796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249D86A-ABDE-01DC-F9ED-BFC3443913DF}"/>
              </a:ext>
            </a:extLst>
          </p:cNvPr>
          <p:cNvSpPr txBox="1"/>
          <p:nvPr/>
        </p:nvSpPr>
        <p:spPr>
          <a:xfrm>
            <a:off x="1396133" y="2102661"/>
            <a:ext cx="8479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e.g. for 1 mole of monoatomic ideal gas (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3),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ko-KR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=3/2*</a:t>
            </a:r>
            <a:r>
              <a:rPr lang="en-US" altLang="ko-KR" i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ko-KR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i="1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= 3/2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R = 12.5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J/K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56E60D5-9843-D444-9528-7ADE459EFCA4}"/>
              </a:ext>
            </a:extLst>
          </p:cNvPr>
          <p:cNvGrpSpPr/>
          <p:nvPr/>
        </p:nvGrpSpPr>
        <p:grpSpPr>
          <a:xfrm>
            <a:off x="6307831" y="2944994"/>
            <a:ext cx="5606696" cy="3913006"/>
            <a:chOff x="2272096" y="2893006"/>
            <a:chExt cx="5606696" cy="391300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E950689-F065-3E5C-152E-A28E90803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2096" y="2893006"/>
              <a:ext cx="5606696" cy="3913006"/>
            </a:xfrm>
            <a:prstGeom prst="rect">
              <a:avLst/>
            </a:prstGeom>
          </p:spPr>
        </p:pic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D74DE9E-EBFA-9F5C-BE69-AA388C2673A8}"/>
                </a:ext>
              </a:extLst>
            </p:cNvPr>
            <p:cNvCxnSpPr/>
            <p:nvPr/>
          </p:nvCxnSpPr>
          <p:spPr>
            <a:xfrm>
              <a:off x="5420736" y="6002040"/>
              <a:ext cx="244381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2BDAAF0-3281-0F5C-43FB-41C3DB9EC097}"/>
                </a:ext>
              </a:extLst>
            </p:cNvPr>
            <p:cNvCxnSpPr/>
            <p:nvPr/>
          </p:nvCxnSpPr>
          <p:spPr>
            <a:xfrm>
              <a:off x="2365193" y="6195692"/>
              <a:ext cx="31258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6329A73-A299-45B3-0D39-789879265680}"/>
                </a:ext>
              </a:extLst>
            </p:cNvPr>
            <p:cNvCxnSpPr/>
            <p:nvPr/>
          </p:nvCxnSpPr>
          <p:spPr>
            <a:xfrm>
              <a:off x="5587969" y="6195692"/>
              <a:ext cx="2221651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2C091D2-D9CA-3908-1B1D-0A9F93B12429}"/>
                </a:ext>
              </a:extLst>
            </p:cNvPr>
            <p:cNvCxnSpPr/>
            <p:nvPr/>
          </p:nvCxnSpPr>
          <p:spPr>
            <a:xfrm>
              <a:off x="2400887" y="6375592"/>
              <a:ext cx="2492937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1A038C4-3901-2E55-0314-1E45DED305EA}"/>
              </a:ext>
            </a:extLst>
          </p:cNvPr>
          <p:cNvSpPr txBox="1"/>
          <p:nvPr/>
        </p:nvSpPr>
        <p:spPr>
          <a:xfrm>
            <a:off x="385313" y="3079485"/>
            <a:ext cx="23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And for ideal gas,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개체 18">
                <a:extLst>
                  <a:ext uri="{FF2B5EF4-FFF2-40B4-BE49-F238E27FC236}">
                    <a16:creationId xmlns:a16="http://schemas.microsoft.com/office/drawing/2014/main" id="{BE2079C2-DC7C-3DDE-603E-9B4C94B8707E}"/>
                  </a:ext>
                </a:extLst>
              </p:cNvPr>
              <p:cNvSpPr txBox="1"/>
              <p:nvPr/>
            </p:nvSpPr>
            <p:spPr>
              <a:xfrm>
                <a:off x="1068895" y="3650505"/>
                <a:ext cx="4832350" cy="159385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m:rPr>
                          <m:aln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𝑛𝑅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19" name="개체 18">
                <a:extLst>
                  <a:ext uri="{FF2B5EF4-FFF2-40B4-BE49-F238E27FC236}">
                    <a16:creationId xmlns:a16="http://schemas.microsoft.com/office/drawing/2014/main" id="{BE2079C2-DC7C-3DDE-603E-9B4C94B87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95" y="3650505"/>
                <a:ext cx="4832350" cy="15938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F042AC-D7D8-4154-CB09-4DBF9017B8C4}"/>
              </a:ext>
            </a:extLst>
          </p:cNvPr>
          <p:cNvSpPr/>
          <p:nvPr/>
        </p:nvSpPr>
        <p:spPr>
          <a:xfrm>
            <a:off x="3491266" y="4666065"/>
            <a:ext cx="930809" cy="3687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6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14099B-3E95-043C-2DAB-6E7CDF605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121" y="547539"/>
            <a:ext cx="7571398" cy="597742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5FDDDF-437D-E322-DF30-E2BC9F81E1F9}"/>
              </a:ext>
            </a:extLst>
          </p:cNvPr>
          <p:cNvCxnSpPr>
            <a:cxnSpLocks/>
          </p:cNvCxnSpPr>
          <p:nvPr/>
        </p:nvCxnSpPr>
        <p:spPr>
          <a:xfrm>
            <a:off x="2818827" y="790535"/>
            <a:ext cx="660018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630E29-FAB3-0430-7146-47E0F9E5F6B2}"/>
              </a:ext>
            </a:extLst>
          </p:cNvPr>
          <p:cNvSpPr txBox="1"/>
          <p:nvPr/>
        </p:nvSpPr>
        <p:spPr>
          <a:xfrm>
            <a:off x="1402539" y="605869"/>
            <a:ext cx="158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Dulong-Petit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58CC5B-B08F-0CEE-19D2-50DBFB46D5BB}"/>
              </a:ext>
            </a:extLst>
          </p:cNvPr>
          <p:cNvSpPr/>
          <p:nvPr/>
        </p:nvSpPr>
        <p:spPr>
          <a:xfrm>
            <a:off x="4255740" y="1127532"/>
            <a:ext cx="495014" cy="2337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E6FAB8-EEB6-02A9-0B08-40ABE17AECF2}"/>
              </a:ext>
            </a:extLst>
          </p:cNvPr>
          <p:cNvSpPr/>
          <p:nvPr/>
        </p:nvSpPr>
        <p:spPr>
          <a:xfrm>
            <a:off x="6549445" y="2517466"/>
            <a:ext cx="846270" cy="2337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530DD4C-1CDE-A46C-CB3E-783AEF8BECDA}"/>
              </a:ext>
            </a:extLst>
          </p:cNvPr>
          <p:cNvCxnSpPr/>
          <p:nvPr/>
        </p:nvCxnSpPr>
        <p:spPr>
          <a:xfrm>
            <a:off x="8001252" y="4936386"/>
            <a:ext cx="166915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B91F30-ABB3-0A46-9B64-B5575848B3DF}"/>
              </a:ext>
            </a:extLst>
          </p:cNvPr>
          <p:cNvCxnSpPr/>
          <p:nvPr/>
        </p:nvCxnSpPr>
        <p:spPr>
          <a:xfrm>
            <a:off x="2553650" y="5177018"/>
            <a:ext cx="559292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473D42-3D96-53E9-5EF3-CDBD741712E8}"/>
              </a:ext>
            </a:extLst>
          </p:cNvPr>
          <p:cNvCxnSpPr/>
          <p:nvPr/>
        </p:nvCxnSpPr>
        <p:spPr>
          <a:xfrm>
            <a:off x="5000812" y="5418795"/>
            <a:ext cx="476230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0120CAE-463F-A2EE-279D-D3970DB61B7F}"/>
              </a:ext>
            </a:extLst>
          </p:cNvPr>
          <p:cNvCxnSpPr/>
          <p:nvPr/>
        </p:nvCxnSpPr>
        <p:spPr>
          <a:xfrm>
            <a:off x="2556237" y="5653697"/>
            <a:ext cx="576239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5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FD099-1FDB-305F-E59E-C905A7AF446E}"/>
              </a:ext>
            </a:extLst>
          </p:cNvPr>
          <p:cNvSpPr txBox="1"/>
          <p:nvPr/>
        </p:nvSpPr>
        <p:spPr>
          <a:xfrm>
            <a:off x="488137" y="611892"/>
            <a:ext cx="6497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Latent heat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heat required to melt or boil the substance</a:t>
            </a:r>
          </a:p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6F5C10C3-7B01-D222-4F73-4BC87C19B0B5}"/>
                  </a:ext>
                </a:extLst>
              </p:cNvPr>
              <p:cNvSpPr txBox="1"/>
              <p:nvPr/>
            </p:nvSpPr>
            <p:spPr>
              <a:xfrm>
                <a:off x="6835775" y="427038"/>
                <a:ext cx="774700" cy="706437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6F5C10C3-7B01-D222-4F73-4BC87C19B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775" y="427038"/>
                <a:ext cx="774700" cy="706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16618D5-FFC8-982F-5B64-0CB30F7E728B}"/>
              </a:ext>
            </a:extLst>
          </p:cNvPr>
          <p:cNvSpPr txBox="1"/>
          <p:nvPr/>
        </p:nvSpPr>
        <p:spPr>
          <a:xfrm>
            <a:off x="1863029" y="1318329"/>
            <a:ext cx="7308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e.g. for a gram of ice, latent heat for melting: 333 J/g = 80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/g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 for a gram of water, latent heat for boiling: 2260 J/g = 540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cal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/g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AFACA-A0F3-3897-13B5-18CE0B7987B5}"/>
              </a:ext>
            </a:extLst>
          </p:cNvPr>
          <p:cNvSpPr txBox="1"/>
          <p:nvPr/>
        </p:nvSpPr>
        <p:spPr>
          <a:xfrm>
            <a:off x="488137" y="2782669"/>
            <a:ext cx="7847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Enthalpy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for a system at pressure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adding pressure-volume work onto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B2248418-5DB9-2133-4489-18B69DC20002}"/>
                  </a:ext>
                </a:extLst>
              </p:cNvPr>
              <p:cNvSpPr txBox="1"/>
              <p:nvPr/>
            </p:nvSpPr>
            <p:spPr>
              <a:xfrm>
                <a:off x="8837137" y="2782669"/>
                <a:ext cx="1435100" cy="319087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B2248418-5DB9-2133-4489-18B69DC2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137" y="2782669"/>
                <a:ext cx="1435100" cy="319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개체 6">
                <a:extLst>
                  <a:ext uri="{FF2B5EF4-FFF2-40B4-BE49-F238E27FC236}">
                    <a16:creationId xmlns:a16="http://schemas.microsoft.com/office/drawing/2014/main" id="{3B9DF6D2-F214-32ED-8DAA-3D3AF78CB9D4}"/>
                  </a:ext>
                </a:extLst>
              </p:cNvPr>
              <p:cNvSpPr txBox="1"/>
              <p:nvPr/>
            </p:nvSpPr>
            <p:spPr>
              <a:xfrm>
                <a:off x="1258174" y="3429000"/>
                <a:ext cx="4374635" cy="17295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aln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𝑃𝑉</m:t>
                          </m:r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개체 6">
                <a:extLst>
                  <a:ext uri="{FF2B5EF4-FFF2-40B4-BE49-F238E27FC236}">
                    <a16:creationId xmlns:a16="http://schemas.microsoft.com/office/drawing/2014/main" id="{3B9DF6D2-F214-32ED-8DAA-3D3AF78CB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74" y="3429000"/>
                <a:ext cx="4374635" cy="17295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A7FCF6F2-FAB9-D946-62F7-C1EA28E9D247}"/>
              </a:ext>
            </a:extLst>
          </p:cNvPr>
          <p:cNvSpPr/>
          <p:nvPr/>
        </p:nvSpPr>
        <p:spPr>
          <a:xfrm>
            <a:off x="2722057" y="3964493"/>
            <a:ext cx="1409996" cy="4091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C102F-6126-E17E-E1D4-84F5385F2320}"/>
              </a:ext>
            </a:extLst>
          </p:cNvPr>
          <p:cNvSpPr txBox="1"/>
          <p:nvPr/>
        </p:nvSpPr>
        <p:spPr>
          <a:xfrm>
            <a:off x="4048923" y="5001982"/>
            <a:ext cx="4689441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i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can come from 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either energy increase, or system expansion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0DDCA53-AAB6-8D06-D35E-A0D7C9BA1F28}"/>
              </a:ext>
            </a:extLst>
          </p:cNvPr>
          <p:cNvCxnSpPr>
            <a:cxnSpLocks/>
          </p:cNvCxnSpPr>
          <p:nvPr/>
        </p:nvCxnSpPr>
        <p:spPr>
          <a:xfrm flipH="1" flipV="1">
            <a:off x="4048923" y="4442604"/>
            <a:ext cx="463364" cy="5456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5BF792-7510-E927-CCB6-0FF03E989EF2}"/>
              </a:ext>
            </a:extLst>
          </p:cNvPr>
          <p:cNvSpPr txBox="1"/>
          <p:nvPr/>
        </p:nvSpPr>
        <p:spPr>
          <a:xfrm>
            <a:off x="6096000" y="3437154"/>
            <a:ext cx="163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(constant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26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381B0-07AC-FC6A-542F-899C44CA4D30}"/>
              </a:ext>
            </a:extLst>
          </p:cNvPr>
          <p:cNvSpPr txBox="1"/>
          <p:nvPr/>
        </p:nvSpPr>
        <p:spPr>
          <a:xfrm>
            <a:off x="543138" y="781989"/>
            <a:ext cx="97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Now using 1st law of thermodynamics,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A260781A-125E-995D-002A-69A4D608AFDB}"/>
                  </a:ext>
                </a:extLst>
              </p:cNvPr>
              <p:cNvSpPr txBox="1"/>
              <p:nvPr/>
            </p:nvSpPr>
            <p:spPr>
              <a:xfrm>
                <a:off x="1440805" y="1385589"/>
                <a:ext cx="2619375" cy="82073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other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other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A260781A-125E-995D-002A-69A4D608A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05" y="1385589"/>
                <a:ext cx="2619375" cy="820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3BDA6F8-8297-4922-EBB5-AD92A508A098}"/>
              </a:ext>
            </a:extLst>
          </p:cNvPr>
          <p:cNvSpPr txBox="1"/>
          <p:nvPr/>
        </p:nvSpPr>
        <p:spPr>
          <a:xfrm>
            <a:off x="3861564" y="1795958"/>
            <a:ext cx="163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(constant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9511F-5E5A-7045-DE8C-B61D272CD26D}"/>
              </a:ext>
            </a:extLst>
          </p:cNvPr>
          <p:cNvSpPr txBox="1"/>
          <p:nvPr/>
        </p:nvSpPr>
        <p:spPr>
          <a:xfrm>
            <a:off x="543138" y="2799489"/>
            <a:ext cx="11055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The change in enthalpy is cause only by heat, and other forms of works, 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not by pressure-volume work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If no other types of work are done, 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the change in enthalpy tells directly how much heat has been added to the system.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C5D406BA-EEDC-903E-AD55-DFE82BC3A7F7}"/>
                  </a:ext>
                </a:extLst>
              </p:cNvPr>
              <p:cNvSpPr txBox="1"/>
              <p:nvPr/>
            </p:nvSpPr>
            <p:spPr>
              <a:xfrm>
                <a:off x="1440805" y="4235554"/>
                <a:ext cx="3897313" cy="7969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6" name="개체 5">
                <a:extLst>
                  <a:ext uri="{FF2B5EF4-FFF2-40B4-BE49-F238E27FC236}">
                    <a16:creationId xmlns:a16="http://schemas.microsoft.com/office/drawing/2014/main" id="{C5D406BA-EEDC-903E-AD55-DFE82BC3A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05" y="4235554"/>
                <a:ext cx="3897313" cy="796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91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A03E3-D0E8-7323-26DB-34CD77E66E3F}"/>
              </a:ext>
            </a:extLst>
          </p:cNvPr>
          <p:cNvSpPr txBox="1"/>
          <p:nvPr/>
        </p:nvSpPr>
        <p:spPr>
          <a:xfrm>
            <a:off x="694393" y="605017"/>
            <a:ext cx="10457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Some examples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(phase transformation, chemical reaction, ionization, dissolution)</a:t>
            </a:r>
          </a:p>
          <a:p>
            <a:endParaRPr lang="en-US" altLang="ko-K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i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when one mole of water boils at 1atm: 40,660 J.    (or (40,660 J)/18 g = 2260 J/g)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among 2260 J, some energy is used as the work needed to push the environment away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5373D698-BE72-88AE-511F-74F8082BF7A9}"/>
                  </a:ext>
                </a:extLst>
              </p:cNvPr>
              <p:cNvSpPr txBox="1"/>
              <p:nvPr/>
            </p:nvSpPr>
            <p:spPr>
              <a:xfrm>
                <a:off x="2418085" y="2556554"/>
                <a:ext cx="4418013" cy="365125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=(8.31​​</m:t>
                      </m:r>
                      <m:r>
                        <m:rPr>
                          <m:nor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m:rPr>
                          <m:nor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)(373​​</m:t>
                      </m:r>
                      <m:r>
                        <m:rPr>
                          <m:sty m:val="p"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)=3100</m:t>
                      </m:r>
                      <m:r>
                        <m:rPr>
                          <m:sty m:val="p"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3" name="개체 2">
                <a:extLst>
                  <a:ext uri="{FF2B5EF4-FFF2-40B4-BE49-F238E27FC236}">
                    <a16:creationId xmlns:a16="http://schemas.microsoft.com/office/drawing/2014/main" id="{5373D698-BE72-88AE-511F-74F8082B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085" y="2556554"/>
                <a:ext cx="4418013" cy="36512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2E46BC1-5CC8-E3DE-B7ED-C678436D56A3}"/>
              </a:ext>
            </a:extLst>
          </p:cNvPr>
          <p:cNvSpPr txBox="1"/>
          <p:nvPr/>
        </p:nvSpPr>
        <p:spPr>
          <a:xfrm>
            <a:off x="694393" y="3954380"/>
            <a:ext cx="1045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i="1" dirty="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US" altLang="ko-KR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in the chemical reaction to make liquid water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(enthalpy of formation of water)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-286 kJ.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In burning 1 mole of H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most (not everything) of -286  kJ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gets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out.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개체 4">
                <a:extLst>
                  <a:ext uri="{FF2B5EF4-FFF2-40B4-BE49-F238E27FC236}">
                    <a16:creationId xmlns:a16="http://schemas.microsoft.com/office/drawing/2014/main" id="{C35E3958-93E9-D09B-EFAC-84805DDC4FD5}"/>
                  </a:ext>
                </a:extLst>
              </p:cNvPr>
              <p:cNvSpPr txBox="1"/>
              <p:nvPr/>
            </p:nvSpPr>
            <p:spPr>
              <a:xfrm>
                <a:off x="3221832" y="5017360"/>
                <a:ext cx="2095500" cy="708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ko-KR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5" name="개체 4">
                <a:extLst>
                  <a:ext uri="{FF2B5EF4-FFF2-40B4-BE49-F238E27FC236}">
                    <a16:creationId xmlns:a16="http://schemas.microsoft.com/office/drawing/2014/main" id="{C35E3958-93E9-D09B-EFAC-84805DDC4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832" y="5017360"/>
                <a:ext cx="2095500" cy="708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85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1751</Words>
  <Application>Microsoft Office PowerPoint</Application>
  <PresentationFormat>와이드스크린</PresentationFormat>
  <Paragraphs>95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Cambria Math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김도석</dc:creator>
  <cp:lastModifiedBy>Doseok Kim</cp:lastModifiedBy>
  <cp:revision>11</cp:revision>
  <dcterms:created xsi:type="dcterms:W3CDTF">2023-02-15T08:04:58Z</dcterms:created>
  <dcterms:modified xsi:type="dcterms:W3CDTF">2025-12-23T05:18:47Z</dcterms:modified>
</cp:coreProperties>
</file>